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44" r:id="rId10"/>
    <p:sldId id="339" r:id="rId11"/>
    <p:sldId id="340"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ish Sharma" userId="88f7ae49d55b6fdd" providerId="LiveId" clId="{20943135-EBC1-47ED-BA32-6B139889E72E}"/>
    <pc:docChg chg="modSld">
      <pc:chgData name="Ashish Sharma" userId="88f7ae49d55b6fdd" providerId="LiveId" clId="{20943135-EBC1-47ED-BA32-6B139889E72E}" dt="2026-09-09T18:23:09.830" v="7" actId="20577"/>
      <pc:docMkLst>
        <pc:docMk/>
      </pc:docMkLst>
      <pc:sldChg chg="modSp">
        <pc:chgData name="Ashish Sharma" userId="88f7ae49d55b6fdd" providerId="LiveId" clId="{20943135-EBC1-47ED-BA32-6B139889E72E}" dt="2026-09-09T18:23:09.830" v="7" actId="20577"/>
        <pc:sldMkLst>
          <pc:docMk/>
          <pc:sldMk cId="3849627828" sldId="340"/>
        </pc:sldMkLst>
        <pc:spChg chg="mod">
          <ac:chgData name="Ashish Sharma" userId="88f7ae49d55b6fdd" providerId="LiveId" clId="{20943135-EBC1-47ED-BA32-6B139889E72E}" dt="2026-09-09T18:23:09.830" v="7" actId="20577"/>
          <ac:spMkLst>
            <pc:docMk/>
            <pc:sldMk cId="3849627828" sldId="340"/>
            <ac:spMk id="10" creationId="{3A64DB11-806F-1A4C-E0D5-D745D29CED50}"/>
          </ac:spMkLst>
        </pc:spChg>
      </pc:sldChg>
      <pc:sldChg chg="modSp">
        <pc:chgData name="Ashish Sharma" userId="88f7ae49d55b6fdd" providerId="LiveId" clId="{20943135-EBC1-47ED-BA32-6B139889E72E}" dt="2026-09-09T18:23:04.510" v="3" actId="20577"/>
        <pc:sldMkLst>
          <pc:docMk/>
          <pc:sldMk cId="1903979828" sldId="345"/>
        </pc:sldMkLst>
        <pc:spChg chg="mod">
          <ac:chgData name="Ashish Sharma" userId="88f7ae49d55b6fdd" providerId="LiveId" clId="{20943135-EBC1-47ED-BA32-6B139889E72E}" dt="2026-09-09T18:23:04.510" v="3" actId="20577"/>
          <ac:spMkLst>
            <pc:docMk/>
            <pc:sldMk cId="1903979828" sldId="345"/>
            <ac:spMk id="10" creationId="{2B7B89A1-9444-8322-CADC-42D31D698FA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shish8847/VOIS-AICTE-DATA-ANALYTICS--Major-Project-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521161"/>
            <a:ext cx="3400089" cy="861497"/>
          </a:xfrm>
        </p:spPr>
        <p:txBody>
          <a:bodyPr vert="horz" lIns="91440" tIns="45720" rIns="91440" bIns="45720" rtlCol="0" anchor="t">
            <a:normAutofit/>
          </a:bodyPr>
          <a:lstStyle/>
          <a:p>
            <a:r>
              <a:rPr lang="en-US" b="0" dirty="0">
                <a:solidFill>
                  <a:schemeClr val="tx1"/>
                </a:solidFill>
              </a:rPr>
              <a:t>Ashish Sharma</a:t>
            </a:r>
            <a:endParaRPr lang="en-IN" b="0" dirty="0">
              <a:solidFill>
                <a:schemeClr val="tx1"/>
              </a:solidFill>
            </a:endParaRPr>
          </a:p>
          <a:p>
            <a:r>
              <a:rPr lang="en-US" b="0" dirty="0">
                <a:solidFill>
                  <a:schemeClr val="tx1"/>
                </a:solidFill>
              </a:rPr>
              <a:t>Chandigarh University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7572" y="2469472"/>
            <a:ext cx="4998720" cy="959528"/>
          </a:xfrm>
        </p:spPr>
        <p:txBody>
          <a:bodyPr>
            <a:normAutofit fontScale="90000"/>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474819"/>
            <a:ext cx="3564601" cy="646331"/>
          </a:xfrm>
          <a:prstGeom prst="rect">
            <a:avLst/>
          </a:prstGeom>
          <a:noFill/>
        </p:spPr>
        <p:txBody>
          <a:bodyPr wrap="square" rtlCol="0">
            <a:spAutoFit/>
          </a:bodyPr>
          <a:lstStyle/>
          <a:p>
            <a:r>
              <a:rPr lang="en-US" b="1" dirty="0"/>
              <a:t>AICTE STU ID : STU69e8ccaff3a6c1776864431</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502332"/>
            <a:ext cx="6431280" cy="3607987"/>
          </a:xfrm>
        </p:spPr>
        <p:txBody>
          <a:bodyPr vert="horz" lIns="91440" tIns="45720" rIns="91440" bIns="45720" rtlCol="0" anchor="t">
            <a:normAutofit fontScale="70000" lnSpcReduction="20000"/>
          </a:bodyPr>
          <a:lstStyle/>
          <a:p>
            <a:pPr marL="0" indent="0">
              <a:lnSpc>
                <a:spcPct val="100000"/>
              </a:lnSpc>
              <a:buNone/>
            </a:pPr>
            <a:r>
              <a:rPr lang="en-US" sz="2800" dirty="0">
                <a:solidFill>
                  <a:schemeClr val="tx1"/>
                </a:solidFill>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solidFill>
                <a:schemeClr val="tx1"/>
              </a:solidFill>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599939"/>
            <a:ext cx="7900000" cy="4858469"/>
          </a:xfrm>
        </p:spPr>
        <p:txBody>
          <a:bodyPr>
            <a:normAutofit fontScale="90000"/>
          </a:bodyPr>
          <a:lstStyle/>
          <a:p>
            <a:r>
              <a:rPr lang="en-GB" sz="4900" b="1" dirty="0"/>
              <a:t>Project Description</a:t>
            </a:r>
          </a:p>
          <a:p>
            <a:br>
              <a:rPr lang="en-US" sz="1800" dirty="0"/>
            </a:br>
            <a:r>
              <a:rPr lang="en-US" sz="1800" b="0" dirty="0"/>
              <a:t>This project, Seasonal Agriculture Performance Analysis looks at how farming results change during Indias three growing seasons. Kharif, Rabi and Zaid. The data covers states, districts and types of crops. It includes a number of factors: weather conditions like rainfall, temperature, humidity, sunlight, soil pH and soil moisture. It also includes farming methods such as how water's provided, the use of fertilizers and pesticides and the quality of seeds. In addition it looks at results like how much is produced how much is sold the cost involved the income made the profit earned, how well water is used and the risk of disease or pests.</a:t>
            </a:r>
            <a:br>
              <a:rPr lang="en-US" sz="1800" b="0" dirty="0"/>
            </a:br>
            <a:br>
              <a:rPr lang="en-US" sz="1800" b="0" dirty="0"/>
            </a:br>
            <a:r>
              <a:rPr lang="en-US" sz="1800" b="0" dirty="0"/>
              <a:t>The study uses a data science process. It starts with cleaning the data dealing with missing information and repeated entries. Then it looks at factors two factors and many factors together. It also performs tests like one-way ANOVA to see if the differences in crop results between seasons are real. In addition, to looking at the seasonal differences the project also looks closely at how each crop does and how each state performs. It also checks how different ways of watering crops work in each season.</a:t>
            </a:r>
            <a:endParaRPr lang="en-IN" sz="18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679258"/>
            <a:ext cx="9047792" cy="4302125"/>
          </a:xfrm>
        </p:spPr>
        <p:txBody>
          <a:bodyPr>
            <a:noAutofit/>
          </a:bodyPr>
          <a:lstStyle/>
          <a:p>
            <a:pPr algn="just">
              <a:lnSpc>
                <a:spcPct val="150000"/>
              </a:lnSpc>
            </a:pPr>
            <a:r>
              <a:rPr lang="en-US" sz="1600" dirty="0">
                <a:solidFill>
                  <a:schemeClr val="tx1"/>
                </a:solidFill>
              </a:rPr>
              <a:t>Farmers and agricultural cooperatives are planning their crop planting and irrigation choices based on each season. They think about what grows when and how much water they’ll need.</a:t>
            </a:r>
          </a:p>
          <a:p>
            <a:pPr algn="just">
              <a:lnSpc>
                <a:spcPct val="150000"/>
              </a:lnSpc>
            </a:pPr>
            <a:r>
              <a:rPr lang="en-US" sz="1600" dirty="0">
                <a:solidFill>
                  <a:schemeClr val="tx1"/>
                </a:solidFill>
              </a:rPr>
              <a:t>State agriculture departments and policymakers are working on support programs. They want to help farmers by offering advice, subsidies or tools that match the time of year.</a:t>
            </a:r>
          </a:p>
          <a:p>
            <a:pPr algn="just">
              <a:lnSpc>
                <a:spcPct val="150000"/>
              </a:lnSpc>
            </a:pPr>
            <a:r>
              <a:rPr lang="en-US" sz="1600" dirty="0">
                <a:solidFill>
                  <a:schemeClr val="tx1"/>
                </a:solidFill>
              </a:rPr>
              <a:t>Agri-fintech companies and crop insurance providers are looking at risks and how much money farmers might make. They use this info to design loans, insurance plans or financial help that fits each season.</a:t>
            </a:r>
          </a:p>
          <a:p>
            <a:pPr algn="just">
              <a:lnSpc>
                <a:spcPct val="150000"/>
              </a:lnSpc>
            </a:pPr>
            <a:r>
              <a:rPr lang="en-US" sz="1600" dirty="0">
                <a:solidFill>
                  <a:schemeClr val="tx1"/>
                </a:solidFill>
              </a:rPr>
              <a:t>Researchers and students are studying how farming performs in seasons. They track things like yields, weather and prices to understand trends and help improve farming over time.</a:t>
            </a:r>
            <a:endParaRPr lang="en-IN" sz="1600" dirty="0">
              <a:solidFill>
                <a:schemeClr val="tx1"/>
              </a:solidFill>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nodePh="1">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15973" y="1586736"/>
            <a:ext cx="9027702" cy="5243448"/>
          </a:xfrm>
        </p:spPr>
        <p:txBody>
          <a:bodyPr/>
          <a:lstStyle/>
          <a:p>
            <a:pPr lvl="1">
              <a:lnSpc>
                <a:spcPct val="150000"/>
              </a:lnSpc>
            </a:pPr>
            <a:r>
              <a:rPr lang="en-IN" dirty="0">
                <a:solidFill>
                  <a:schemeClr val="tx1"/>
                </a:solidFill>
              </a:rPr>
              <a:t>Python (Pandas, NumPy) for data cleaning and analysis</a:t>
            </a:r>
          </a:p>
          <a:p>
            <a:pPr lvl="1">
              <a:lnSpc>
                <a:spcPct val="150000"/>
              </a:lnSpc>
            </a:pPr>
            <a:r>
              <a:rPr lang="en-IN" dirty="0">
                <a:solidFill>
                  <a:schemeClr val="tx1"/>
                </a:solidFill>
              </a:rPr>
              <a:t>Matplotlib and Seaborn for data visualization</a:t>
            </a:r>
          </a:p>
          <a:p>
            <a:pPr lvl="1">
              <a:lnSpc>
                <a:spcPct val="150000"/>
              </a:lnSpc>
            </a:pPr>
            <a:r>
              <a:rPr lang="en-IN" dirty="0">
                <a:solidFill>
                  <a:schemeClr val="tx1"/>
                </a:solidFill>
              </a:rPr>
              <a:t>SciPy for statistical testing (ANOVA)</a:t>
            </a:r>
          </a:p>
          <a:p>
            <a:pPr lvl="1">
              <a:lnSpc>
                <a:spcPct val="150000"/>
              </a:lnSpc>
            </a:pPr>
            <a:r>
              <a:rPr lang="en-IN" dirty="0">
                <a:solidFill>
                  <a:schemeClr val="tx1"/>
                </a:solidFill>
              </a:rPr>
              <a:t>Jupyter Notebook for development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IN" b="1" dirty="0"/>
              <a:t>Univariate Analysis</a:t>
            </a:r>
            <a:endParaRPr lang="en-IN" dirty="0"/>
          </a:p>
        </p:txBody>
      </p:sp>
      <p:pic>
        <p:nvPicPr>
          <p:cNvPr id="3" name="Picture 2">
            <a:extLst>
              <a:ext uri="{FF2B5EF4-FFF2-40B4-BE49-F238E27FC236}">
                <a16:creationId xmlns:a16="http://schemas.microsoft.com/office/drawing/2014/main" id="{EEF4A6B5-B257-00CF-7741-597598B09CAB}"/>
              </a:ext>
            </a:extLst>
          </p:cNvPr>
          <p:cNvPicPr>
            <a:picLocks noChangeAspect="1"/>
          </p:cNvPicPr>
          <p:nvPr/>
        </p:nvPicPr>
        <p:blipFill>
          <a:blip r:embed="rId3"/>
          <a:stretch>
            <a:fillRect/>
          </a:stretch>
        </p:blipFill>
        <p:spPr>
          <a:xfrm>
            <a:off x="807164" y="2015234"/>
            <a:ext cx="9036632" cy="328455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675957" y="1275371"/>
            <a:ext cx="521207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IN" dirty="0"/>
              <a:t>Seasonal Overview — Record Counts &amp; Distribution</a:t>
            </a:r>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3A06E51-01F0-9A3D-8958-53DEA633AED4}"/>
              </a:ext>
            </a:extLst>
          </p:cNvPr>
          <p:cNvPicPr>
            <a:picLocks noChangeAspect="1"/>
          </p:cNvPicPr>
          <p:nvPr/>
        </p:nvPicPr>
        <p:blipFill>
          <a:blip r:embed="rId3"/>
          <a:stretch>
            <a:fillRect/>
          </a:stretch>
        </p:blipFill>
        <p:spPr>
          <a:xfrm>
            <a:off x="675957" y="2015234"/>
            <a:ext cx="5332957" cy="384161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3" y="1431693"/>
            <a:ext cx="10079911" cy="477520"/>
          </a:xfrm>
        </p:spPr>
        <p:txBody>
          <a:bodyPr>
            <a:noAutofit/>
          </a:bodyPr>
          <a:lstStyle/>
          <a:p>
            <a:pPr marL="0" indent="0">
              <a:buNone/>
            </a:pPr>
            <a:r>
              <a:rPr lang="en-IN" sz="1600" dirty="0"/>
              <a:t>Bivariate Analysis — Question 1: How does agricultural performance (Yield, Profit) vary across seasons?</a:t>
            </a:r>
          </a:p>
        </p:txBody>
      </p:sp>
      <p:pic>
        <p:nvPicPr>
          <p:cNvPr id="3" name="Picture 2">
            <a:extLst>
              <a:ext uri="{FF2B5EF4-FFF2-40B4-BE49-F238E27FC236}">
                <a16:creationId xmlns:a16="http://schemas.microsoft.com/office/drawing/2014/main" id="{10D36735-4867-C654-98F1-5E8596796DB1}"/>
              </a:ext>
            </a:extLst>
          </p:cNvPr>
          <p:cNvPicPr>
            <a:picLocks noChangeAspect="1"/>
          </p:cNvPicPr>
          <p:nvPr/>
        </p:nvPicPr>
        <p:blipFill>
          <a:blip r:embed="rId3"/>
          <a:stretch>
            <a:fillRect/>
          </a:stretch>
        </p:blipFill>
        <p:spPr>
          <a:xfrm>
            <a:off x="807163" y="2015233"/>
            <a:ext cx="5851006" cy="1438967"/>
          </a:xfrm>
          <a:prstGeom prst="rect">
            <a:avLst/>
          </a:prstGeom>
        </p:spPr>
      </p:pic>
      <p:pic>
        <p:nvPicPr>
          <p:cNvPr id="9" name="Picture 8">
            <a:extLst>
              <a:ext uri="{FF2B5EF4-FFF2-40B4-BE49-F238E27FC236}">
                <a16:creationId xmlns:a16="http://schemas.microsoft.com/office/drawing/2014/main" id="{9AEAB5B4-B758-6671-C835-667301D3FB18}"/>
              </a:ext>
            </a:extLst>
          </p:cNvPr>
          <p:cNvPicPr>
            <a:picLocks noChangeAspect="1"/>
          </p:cNvPicPr>
          <p:nvPr/>
        </p:nvPicPr>
        <p:blipFill>
          <a:blip r:embed="rId4"/>
          <a:stretch>
            <a:fillRect/>
          </a:stretch>
        </p:blipFill>
        <p:spPr>
          <a:xfrm>
            <a:off x="807163" y="3527984"/>
            <a:ext cx="6993812" cy="250751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3" y="1431693"/>
            <a:ext cx="9165511" cy="477520"/>
          </a:xfrm>
        </p:spPr>
        <p:txBody>
          <a:bodyPr>
            <a:noAutofit/>
          </a:bodyPr>
          <a:lstStyle/>
          <a:p>
            <a:pPr marL="0" indent="0">
              <a:buNone/>
            </a:pPr>
            <a:r>
              <a:rPr lang="en-IN" sz="1600" dirty="0">
                <a:solidFill>
                  <a:schemeClr val="tx1"/>
                </a:solidFill>
              </a:rPr>
              <a:t>Question 2 — Environmental conditions by season (rainfall, temperature, humidity, sunlight)</a:t>
            </a:r>
          </a:p>
        </p:txBody>
      </p:sp>
      <p:pic>
        <p:nvPicPr>
          <p:cNvPr id="3" name="Picture 2">
            <a:extLst>
              <a:ext uri="{FF2B5EF4-FFF2-40B4-BE49-F238E27FC236}">
                <a16:creationId xmlns:a16="http://schemas.microsoft.com/office/drawing/2014/main" id="{2C9F230A-FE5E-1FED-22F8-035FB9542878}"/>
              </a:ext>
            </a:extLst>
          </p:cNvPr>
          <p:cNvPicPr>
            <a:picLocks noChangeAspect="1"/>
          </p:cNvPicPr>
          <p:nvPr/>
        </p:nvPicPr>
        <p:blipFill>
          <a:blip r:embed="rId3"/>
          <a:stretch>
            <a:fillRect/>
          </a:stretch>
        </p:blipFill>
        <p:spPr>
          <a:xfrm>
            <a:off x="807163" y="2015234"/>
            <a:ext cx="9165510" cy="433608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3" y="1431693"/>
            <a:ext cx="7720295" cy="477520"/>
          </a:xfrm>
        </p:spPr>
        <p:txBody>
          <a:bodyPr>
            <a:noAutofit/>
          </a:bodyPr>
          <a:lstStyle/>
          <a:p>
            <a:pPr marL="0" indent="0">
              <a:buNone/>
            </a:pPr>
            <a:r>
              <a:rPr lang="en-IN" sz="1600" dirty="0">
                <a:solidFill>
                  <a:schemeClr val="tx1"/>
                </a:solidFill>
              </a:rPr>
              <a:t>Question 3 — Resource usage across seasons (fertilizer, pesticide, water)</a:t>
            </a:r>
          </a:p>
        </p:txBody>
      </p:sp>
      <p:pic>
        <p:nvPicPr>
          <p:cNvPr id="3" name="Picture 2">
            <a:extLst>
              <a:ext uri="{FF2B5EF4-FFF2-40B4-BE49-F238E27FC236}">
                <a16:creationId xmlns:a16="http://schemas.microsoft.com/office/drawing/2014/main" id="{43A20692-80E3-1FC2-6DC1-7A5598FA38D7}"/>
              </a:ext>
            </a:extLst>
          </p:cNvPr>
          <p:cNvPicPr>
            <a:picLocks noChangeAspect="1"/>
          </p:cNvPicPr>
          <p:nvPr/>
        </p:nvPicPr>
        <p:blipFill>
          <a:blip r:embed="rId3"/>
          <a:stretch>
            <a:fillRect/>
          </a:stretch>
        </p:blipFill>
        <p:spPr>
          <a:xfrm>
            <a:off x="807163" y="2015233"/>
            <a:ext cx="9511647" cy="341107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10094606" cy="5044407"/>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285750" indent="-285750" algn="l">
              <a:buClr>
                <a:schemeClr val="tx1"/>
              </a:buClr>
              <a:buSzPct val="85000"/>
              <a:buFont typeface="Arial" panose="020B0604020202020204" pitchFamily="34" charset="0"/>
              <a:buChar char="•"/>
            </a:pPr>
            <a:r>
              <a:rPr lang="en-IN" sz="1800" b="1" dirty="0"/>
              <a:t>Yield Prediction</a:t>
            </a:r>
            <a:endParaRPr lang="en-IN" sz="1800" dirty="0"/>
          </a:p>
          <a:p>
            <a:pPr marL="1028700" lvl="1">
              <a:buClr>
                <a:schemeClr val="tx1"/>
              </a:buClr>
              <a:buSzPct val="85000"/>
              <a:buFont typeface="Courier New" panose="02070309020205020404" pitchFamily="49" charset="0"/>
              <a:buChar char="o"/>
            </a:pPr>
            <a:r>
              <a:rPr lang="en-IN" sz="1800" dirty="0"/>
              <a:t>Develop ML models such as Random Forest, </a:t>
            </a:r>
            <a:r>
              <a:rPr lang="en-IN" sz="1800" dirty="0" err="1"/>
              <a:t>XGBoost</a:t>
            </a:r>
            <a:r>
              <a:rPr lang="en-IN" sz="1800" dirty="0"/>
              <a:t> or Gradient</a:t>
            </a:r>
          </a:p>
          <a:p>
            <a:pPr marL="285750" indent="-285750" algn="l">
              <a:buClr>
                <a:schemeClr val="tx1"/>
              </a:buClr>
              <a:buSzPct val="85000"/>
              <a:buFont typeface="Arial" panose="020B0604020202020204" pitchFamily="34" charset="0"/>
              <a:buChar char="•"/>
            </a:pPr>
            <a:r>
              <a:rPr lang="en-IN" sz="1800" b="1" dirty="0"/>
              <a:t>Profit Prediction</a:t>
            </a:r>
            <a:endParaRPr lang="en-IN" sz="1800" dirty="0"/>
          </a:p>
          <a:p>
            <a:pPr marL="1028700" lvl="1">
              <a:buClr>
                <a:schemeClr val="tx1"/>
              </a:buClr>
              <a:buSzPct val="85000"/>
              <a:buFont typeface="Courier New" panose="02070309020205020404" pitchFamily="49" charset="0"/>
              <a:buChar char="o"/>
            </a:pPr>
            <a:r>
              <a:rPr lang="en-IN" sz="1800" dirty="0"/>
              <a:t>Build a model to predict expected </a:t>
            </a:r>
            <a:r>
              <a:rPr lang="en-IN" sz="1800" b="1" dirty="0"/>
              <a:t>profit or profit margin</a:t>
            </a:r>
            <a:endParaRPr lang="en-IN" sz="1800" dirty="0"/>
          </a:p>
          <a:p>
            <a:pPr marL="285750" indent="-285750" algn="l">
              <a:buClr>
                <a:schemeClr val="tx1"/>
              </a:buClr>
              <a:buSzPct val="85000"/>
              <a:buFont typeface="Arial" panose="020B0604020202020204" pitchFamily="34" charset="0"/>
              <a:buChar char="•"/>
            </a:pPr>
            <a:r>
              <a:rPr lang="en-IN" sz="1800" b="1" dirty="0"/>
              <a:t>Crop Recommendation System</a:t>
            </a:r>
            <a:endParaRPr lang="en-IN" sz="1800" dirty="0"/>
          </a:p>
          <a:p>
            <a:pPr marL="1028700" lvl="1">
              <a:buClr>
                <a:schemeClr val="tx1"/>
              </a:buClr>
              <a:buSzPct val="85000"/>
              <a:buFont typeface="Courier New" panose="02070309020205020404" pitchFamily="49" charset="0"/>
              <a:buChar char="o"/>
            </a:pPr>
            <a:r>
              <a:rPr lang="en-IN" sz="1800" dirty="0"/>
              <a:t>Create a recommendation engine that suggests the most suitable crop for a particular season and region.</a:t>
            </a:r>
          </a:p>
          <a:p>
            <a:pPr marL="285750" indent="-285750" algn="l">
              <a:buClr>
                <a:schemeClr val="tx1"/>
              </a:buClr>
              <a:buSzPct val="85000"/>
              <a:buFont typeface="Arial" panose="020B0604020202020204" pitchFamily="34" charset="0"/>
              <a:buChar char="•"/>
            </a:pPr>
            <a:r>
              <a:rPr lang="en-IN" sz="1800" b="1" dirty="0"/>
              <a:t>Smart Irrigation Recommendation</a:t>
            </a:r>
            <a:endParaRPr lang="en-IN" sz="1800" dirty="0"/>
          </a:p>
          <a:p>
            <a:pPr marL="1028700" lvl="1">
              <a:buClr>
                <a:schemeClr val="tx1"/>
              </a:buClr>
              <a:buSzPct val="85000"/>
              <a:buFont typeface="Courier New" panose="02070309020205020404" pitchFamily="49" charset="0"/>
              <a:buChar char="o"/>
            </a:pPr>
            <a:r>
              <a:rPr lang="en-IN" sz="1800" dirty="0"/>
              <a:t>Extend the current comparison of Drip, Flood, Rainfed and Sprinkler irrigation into a recommendation system.</a:t>
            </a:r>
          </a:p>
          <a:p>
            <a:pPr marL="285750" indent="-285750" algn="l">
              <a:buClr>
                <a:schemeClr val="tx1"/>
              </a:buClr>
              <a:buSzPct val="85000"/>
              <a:buFont typeface="Arial" panose="020B0604020202020204" pitchFamily="34" charset="0"/>
              <a:buChar char="•"/>
            </a:pPr>
            <a:r>
              <a:rPr lang="en-IN" sz="1800" b="1" dirty="0"/>
              <a:t>Disease and Pest Risk Prediction</a:t>
            </a:r>
            <a:endParaRPr lang="en-IN" sz="1800" dirty="0"/>
          </a:p>
          <a:p>
            <a:pPr marL="1028700" lvl="1">
              <a:buClr>
                <a:schemeClr val="tx1"/>
              </a:buClr>
              <a:buSzPct val="85000"/>
              <a:buFont typeface="Courier New" panose="02070309020205020404" pitchFamily="49" charset="0"/>
              <a:buChar char="o"/>
            </a:pPr>
            <a:r>
              <a:rPr lang="en-IN" sz="1800" dirty="0"/>
              <a:t>Build a classification/regression model to predict disease/pest risk.</a:t>
            </a:r>
          </a:p>
          <a:p>
            <a:pPr lvl="0" algn="l"/>
            <a:endParaRPr lang="en-IN" sz="18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8648009" cy="646331"/>
          </a:xfrm>
          <a:prstGeom prst="rect">
            <a:avLst/>
          </a:prstGeom>
          <a:noFill/>
        </p:spPr>
        <p:txBody>
          <a:bodyPr wrap="square">
            <a:spAutoFit/>
          </a:bodyPr>
          <a:lstStyle/>
          <a:p>
            <a:r>
              <a:rPr lang="en-US" dirty="0">
                <a:hlinkClick r:id="rId3"/>
              </a:rPr>
              <a:t>https://github.com/ashish8847/VOIS-AICTE-DATA-ANALYTICS--Major-Project-Seasonal-Agriculture-Performance-Analysis.git</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760CFC3-9F03-E67B-3E3C-01792543BCF2}"/>
              </a:ext>
            </a:extLst>
          </p:cNvPr>
          <p:cNvPicPr>
            <a:picLocks noChangeAspect="1"/>
          </p:cNvPicPr>
          <p:nvPr/>
        </p:nvPicPr>
        <p:blipFill>
          <a:blip r:embed="rId3"/>
          <a:stretch>
            <a:fillRect/>
          </a:stretch>
        </p:blipFill>
        <p:spPr>
          <a:xfrm>
            <a:off x="2534740" y="1342646"/>
            <a:ext cx="7122519" cy="501830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2485880"/>
            <a:ext cx="11340000" cy="1363975"/>
          </a:xfrm>
          <a:prstGeom prst="rect">
            <a:avLst/>
          </a:prstGeom>
        </p:spPr>
        <p:txBody>
          <a:bodyPr anchor="ctr">
            <a:noAutofit/>
          </a:bodyPr>
          <a:lstStyle/>
          <a:p>
            <a:pPr algn="ctr"/>
            <a:r>
              <a:rPr lang="en-US" sz="80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1433</TotalTime>
  <Words>666</Words>
  <Application>Microsoft Office PowerPoint</Application>
  <PresentationFormat>Widescreen</PresentationFormat>
  <Paragraphs>46</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Courier New</vt:lpstr>
      <vt:lpstr>Trebuchet MS</vt:lpstr>
      <vt:lpstr>Wingdings</vt:lpstr>
      <vt:lpstr>Wingdings 3</vt:lpstr>
      <vt:lpstr>Facet</vt:lpstr>
      <vt:lpstr>Seasonal Agriculture Performance Analysis</vt:lpstr>
      <vt:lpstr>PROBLEM  STATEMENT</vt:lpstr>
      <vt:lpstr>Project Description  This project, Seasonal Agriculture Performance Analysis looks at how farming results change during Indias three growing seasons. Kharif, Rabi and Zaid. The data covers states, districts and types of crops. It includes a number of factors: weather conditions like rainfall, temperature, humidity, sunlight, soil pH and soil moisture. It also includes farming methods such as how water's provided, the use of fertilizers and pesticides and the quality of seeds. In addition it looks at results like how much is produced how much is sold the cost involved the income made the profit earned, how well water is used and the risk of disease or pests.  The study uses a data science process. It starts with cleaning the data dealing with missing information and repeated entries. Then it looks at factors two factors and many factors together. It also performs tests like one-way ANOVA to see if the differences in crop results between seasons are real. In addition, to looking at the seasonal differences the project also looks closely at how each crop does and how each state performs. It also checks how different ways of watering crops work in each season.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Ashish Sharma</cp:lastModifiedBy>
  <cp:revision>100</cp:revision>
  <dcterms:created xsi:type="dcterms:W3CDTF">2021-07-11T13:13:15Z</dcterms:created>
  <dcterms:modified xsi:type="dcterms:W3CDTF">2026-09-09T18:23:20Z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